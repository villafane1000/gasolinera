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8f03d2e-1159-4924-9b55-fbe3f60b3a4b}">
          <p14:sldIdLst>
            <p14:sldId id="256"/>
            <p14:sldId id="257"/>
          </p14:sldIdLst>
        </p14:section>
        <p14:section name="Diagnóstico" id="{3a3b51ed-0795-53e8-be35-4f4dc4308a48}">
          <p14:sldIdLst>
            <p14:sldId id="258"/>
            <p14:sldId id="259"/>
            <p14:sldId id="260"/>
          </p14:sldIdLst>
        </p14:section>
        <p14:section name="Caso de negocio" id="{4c8c36d4-7bb2-eae2-679f-f6103d9c5db2}">
          <p14:sldIdLst>
            <p14:sldId id="261"/>
          </p14:sldIdLst>
        </p14:section>
        <p14:section name="Producto" id="{4206788f-6fd2-a2a7-3fb5-84b125f8de0a}">
          <p14:sldIdLst>
            <p14:sldId id="262"/>
            <p14:sldId id="263"/>
            <p14:sldId id="264"/>
            <p14:sldId id="265"/>
            <p14:sldId id="266"/>
          </p14:sldIdLst>
        </p14:section>
        <p14:section name="Cierre" id="{f0d9b8de-71a5-5359-8603-cb4d4ac1f6e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j-lt"/>
              </a:rPr>
              <a:t>Funnel del piloto (Tabla 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Vehículos</c:v>
                </c:pt>
              </c:strCache>
            </c:strRef>
          </c:tx>
          <c:spPr>
            <a:solidFill>
              <a:srgbClr val="1560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Ingresaron</c:v>
                  </c:pt>
                  <c:pt idx="1">
                    <c:v>Placa leída</c:v>
                  </c:pt>
                  <c:pt idx="2">
                    <c:v>Cuenta enrolada</c:v>
                  </c:pt>
                  <c:pt idx="3">
                    <c:v>Facial + liveness</c:v>
                  </c:pt>
                  <c:pt idx="4">
                    <c:v>Preautorización</c:v>
                  </c:pt>
                  <c:pt idx="5">
                    <c:v>Cierre sin humano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41200</c:v>
                </c:pt>
                <c:pt idx="1">
                  <c:v>37080</c:v>
                </c:pt>
                <c:pt idx="2">
                  <c:v>6180</c:v>
                </c:pt>
                <c:pt idx="3">
                  <c:v>5130</c:v>
                </c:pt>
                <c:pt idx="4">
                  <c:v>4870</c:v>
                </c:pt>
                <c:pt idx="5">
                  <c:v>4410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j-lt"/>
              </a:rPr>
              <a:t>VPN en millones de USD (tasa 12 %)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VPN 3 años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· Plan directivo</c:v>
                  </c:pt>
                  <c:pt idx="1">
                    <c:v>B · Escalonado</c:v>
                  </c:pt>
                  <c:pt idx="2">
                    <c:v>C · Recomendado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-24.9</c:v>
                </c:pt>
                <c:pt idx="1">
                  <c:v>-9.5</c:v>
                </c:pt>
                <c:pt idx="2">
                  <c:v>-5.6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VPN 5 años</c:v>
                </c:pt>
              </c:strCache>
            </c:strRef>
          </c:tx>
          <c:spPr>
            <a:solidFill>
              <a:srgbClr val="54A77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· Plan directivo</c:v>
                  </c:pt>
                  <c:pt idx="1">
                    <c:v>B · Escalonado</c:v>
                  </c:pt>
                  <c:pt idx="2">
                    <c:v>C · Recomendado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-25.7</c:v>
                </c:pt>
                <c:pt idx="1">
                  <c:v>-8.2</c:v>
                </c:pt>
                <c:pt idx="2">
                  <c:v>-3.7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j-lt"/>
              </a:rPr>
              <a:t>Proyección de lectura ponderada (%) · a validar en sombra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ANPR ponderado</c:v>
                </c:pt>
              </c:strCache>
            </c:strRef>
          </c:tx>
          <c:spPr>
            <a:solidFill>
              <a:srgbClr val="15601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Piloto</c:v>
                  </c:pt>
                  <c:pt idx="1">
                    <c:v>+ NIR y obturador</c:v>
                  </c:pt>
                  <c:pt idx="2">
                    <c:v>+ Multicuadro</c:v>
                  </c:pt>
                  <c:pt idx="3">
                    <c:v>+ Fine-tuning CO/PE</c:v>
                  </c:pt>
                  <c:pt idx="4">
                    <c:v>+ Match enrolados</c:v>
                  </c:pt>
                  <c:pt idx="5">
                    <c:v>+ Operación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92.6</c:v>
                </c:pt>
                <c:pt idx="2">
                  <c:v>93.8</c:v>
                </c:pt>
                <c:pt idx="3">
                  <c:v>94.8</c:v>
                </c:pt>
                <c:pt idx="4">
                  <c:v>96.1</c:v>
                </c:pt>
                <c:pt idx="5">
                  <c:v>96.2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8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j-lt"/>
              </a:rPr>
              <a:t>Tasa de disputas (%) · semanas 2–7 no reportadas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Disputas (dashboard del adquirente)</c:v>
                </c:pt>
              </c:strCache>
            </c:strRef>
          </c:tx>
          <c:spPr>
            <a:solidFill>
              <a:srgbClr val="15601D"/>
            </a:solidFill>
            <a:ln w="38100" cap="flat">
              <a:solidFill>
                <a:srgbClr val="15601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5601D"/>
              </a:solidFill>
              <a:ln w="9525" cap="flat">
                <a:solidFill>
                  <a:srgbClr val="1560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Sem 1</c:v>
                  </c:pt>
                  <c:pt idx="1">
                    <c:v>Sem 8</c:v>
                  </c:pt>
                  <c:pt idx="2">
                    <c:v>Sem 9 (proy.)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</c:v>
                </c:pt>
                <c:pt idx="1">
                  <c:v>0.61</c:v>
                </c:pt>
                <c:pt idx="2">
                  <c:v>0.68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Umbral contractual</c:v>
                </c:pt>
              </c:strCache>
            </c:strRef>
          </c:tx>
          <c:spPr>
            <a:solidFill>
              <a:srgbClr val="B42318"/>
            </a:solidFill>
            <a:ln w="38100" cap="flat">
              <a:solidFill>
                <a:srgbClr val="B4231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42318"/>
              </a:solidFill>
              <a:ln w="9525" cap="flat">
                <a:solidFill>
                  <a:srgbClr val="B423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Sem 1</c:v>
                  </c:pt>
                  <c:pt idx="1">
                    <c:v>Sem 8</c:v>
                  </c:pt>
                  <c:pt idx="2">
                    <c:v>Sem 9 (proy.)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0.65</c:v>
                </c:pt>
                <c:pt idx="1">
                  <c:v>0.65</c:v>
                </c:pt>
                <c:pt idx="2">
                  <c:v>0.65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Abro con la decisión, no con la tecnología. Mi recomendación es usar los 4,2 millones para demostrar la variable que el piloto no midió: volumen incremental. El resto de la presentación justifica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números: el plan directivo no cabe en el presupuesto; la automatización funciona sobre enrolados; y la única variable que justifica escalar es el volumen incremental, que hoy no está medida.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41.200 vehículos solo 4.410 se cerraron sin intervención. Pero la caída grande está en una sola etapa: solo 16,7 % de las placas leídas tiene cuenta. Diez puntos ahí valen cinco veces más que diez puntos en cualquier etapa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nota 4 de la rúbrica pide detectar trampas y decidir con ellas. Aquí están las siete que encontré y qué hago con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Reformulo la hipótesis en tres metas medibles. El promedio de tiempo no es meta: lo mueven pocos casos extremos.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está en Excel con fórmulas y supuestos en azul. El mensaje para el comité: la decisión de escalar depende de un número que todavía no tenemos, y el experimento de M6 lo mide.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wedge se elige por riesgo y velocidad de enrolamiento, no por tamaño del segmento.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máquina de estados del anexo si preguntan por idempotencia o compensaciones.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Costo por intento con supuestos: falso rechazo USD 1, falsa aceptación USD 45, 0,5 % impostores casuales y 0,1 % ataques. 0,60 gana salvo que los ataques pasen ~4,7 %.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Reconciliación: el adquirente diluye con transacciones no Flow del mismo código de comercio; el CRM incluye reclamos que no son contracargos; las disputas llegan con 30 a 120 días de rezago. Riesgo de segundo orden: separar Flow en su propio código de comercio sube la tasa contractual de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patrón de confirmación humana firmada y revalidación lo he implementado en agentes de órdenes de compra y de contratos. Aquí abro el MVP y corro D-1044 y D-1045.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con lo que necesito del comité. Luego quedan 20 minutos de preguntas y el caso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DFD8C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502920"/>
          </a:xfrm>
          <a:prstGeom prst="rect">
            <a:avLst/>
          </a:prstGeom>
          <a:solidFill>
            <a:srgbClr val="6DFD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Caso Flow · Victor Hugo Villafañe Aguilar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FD8C"/>
                </a:solidFill>
              </a:rPr>
              <a:t>PRUEBA TÉCNICA · AI-NATIVE PRODUCT MANAGER, SEAMLESS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Flow: no escalar a 420.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Demostrar volumen en 120 estaciones.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Recomendación al comité de AndesFuel con base en el piloto de 8 semanas en Bogotá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Victor Hugo Villafañe Aguilar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Caso y cifras ficticios ·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La recomendación en una lámina</a:t>
            </a:r>
            <a:endParaRPr lang="en-US" sz="2600" dirty="0"/>
          </a:p>
        </p:txBody>
      </p:sp>
      <p:sp>
        <p:nvSpPr>
          <p:cNvPr id="3" name="c1"/>
          <p:cNvSpPr/>
          <p:nvPr/>
        </p:nvSpPr>
        <p:spPr>
          <a:xfrm>
            <a:off x="640080" y="1280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1F0"/>
          </a:solidFill>
          <a:ln w="12700">
            <a:solidFill>
              <a:srgbClr val="D6E9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154680" cy="8001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</a:rPr>
              <a:t>USD 22,2 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60270"/>
            <a:ext cx="3154680" cy="672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CAPEX incremental del plan directivo (red instalada USD 22,4 M): 5,3 veces el presupuesto</a:t>
            </a:r>
            <a:endParaRPr lang="en-US" sz="1200" dirty="0"/>
          </a:p>
        </p:txBody>
      </p:sp>
      <p:sp>
        <p:nvSpPr>
          <p:cNvPr id="6" name="c2"/>
          <p:cNvSpPr/>
          <p:nvPr/>
        </p:nvSpPr>
        <p:spPr>
          <a:xfrm>
            <a:off x="4343400" y="1280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2FBF4"/>
          </a:solidFill>
          <a:ln w="12700">
            <a:solidFill>
              <a:srgbClr val="D6E9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17320"/>
            <a:ext cx="3154680" cy="8001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01D"/>
                </a:solidFill>
              </a:rPr>
              <a:t>64 %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60270"/>
            <a:ext cx="3154680" cy="672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cierre sin intervención sobre enrolados hoy (10,7 % sobre todo el tráfico)</a:t>
            </a:r>
            <a:endParaRPr lang="en-US" sz="1200" dirty="0"/>
          </a:p>
        </p:txBody>
      </p:sp>
      <p:sp>
        <p:nvSpPr>
          <p:cNvPr id="9" name="c3"/>
          <p:cNvSpPr/>
          <p:nvPr/>
        </p:nvSpPr>
        <p:spPr>
          <a:xfrm>
            <a:off x="8046720" y="1280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7D6"/>
          </a:solidFill>
          <a:ln w="12700">
            <a:solidFill>
              <a:srgbClr val="D6E9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417320"/>
            <a:ext cx="3154680" cy="8001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8B00"/>
                </a:solidFill>
              </a:rPr>
              <a:t>6 %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60270"/>
            <a:ext cx="3154680" cy="6720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volumen incremental por estación que hace falta para recuperar la inversión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00400"/>
            <a:ext cx="10972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</a:rPr>
              <a:t>Aprobar USD 4,2 M para 12 meses con 4 compuertas cuantitativas, no un calendario.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</a:rPr>
              <a:t>Arreglar el piloto primero: disputas camino al umbral y hold fijo de COP 200.000.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</a:rPr>
              <a:t>Entrar por flotas corporativas; frecuentes de la app al mes 6; motos fuera del año 1.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</a:rPr>
              <a:t>120 estaciones priorizadas con 2 carriles exprés y un experimento que mida volumen causal.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</a:rPr>
              <a:t>El comité decide 250, 420 o detener en el mes 12 con volumen neto y economía medidos, no supuestos.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El cuello de botella es el enrolamiento, no la visión</a:t>
            </a:r>
            <a:endParaRPr lang="en-US" sz="2600" dirty="0"/>
          </a:p>
        </p:txBody>
      </p:sp>
      <p:graphicFrame>
        <p:nvGraphicFramePr>
          <p:cNvPr id="3" name="funnel" descr=""/>
          <p:cNvGraphicFramePr/>
          <p:nvPr/>
        </p:nvGraphicFramePr>
        <p:xfrm>
          <a:off x="548640" y="1188720"/>
          <a:ext cx="65836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Mejora de +10 pp en…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Tasa E2E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Enrolamiento (16,7 → 26,7 %)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17,1 %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+6,4 pp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Facial + liveness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12,0 %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+1,3 pp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Placa leída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11,9 %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+1,2 pp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Cierre sin humano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11,8 %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+1,1 pp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Preautorización (tope)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11,3 %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</a:rPr>
                        <a:t>+0,6 pp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406640" y="4480560"/>
            <a:ext cx="4206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601D"/>
                </a:solidFill>
              </a:rPr>
              <a:t>Primer trimestre: enrolamiento (flotas B2B y anfitrión que enrola en isla) y disputas. Visión solo para noche y lluvia.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Siete inconsistencias del data room y cómo decidí con ellas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 que dice el dato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 que realmente significa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Proveedor: 97 % de reconocimiento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Es día claro; ponderado por tráfico da 90,0 %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Prueba de aceptación contractual con penalidad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Disputas 0,42 % vs. 27 casos (0,61 %)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Distinto denominador, numerador y tiempo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Contrato: adquirente. Producto: cohortes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Promedio 0,42 % de disputas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Tendencia 0,15 → 0,61 %; proyecta 0,68 % en sem. 9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Plan de 30 días y kill switch en 0,55 %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Hold fijo de COP 200.000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69 % sobre el ticket de 118.000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Hold dinámico y autorización parcial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Meta de 70 % sin denominador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10,7 % sobre tráfico; 64 % sobre enrolados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Tres metas con numerador y denominador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USD 4,2 M para 420 estaciones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Red instalada USD 22,4 M; incremental USD 22,2 M (5,3×)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120 estaciones con 2 carriles exprés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Colas de 4–7 minutos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Islas al 25 % de utilización: falta personal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El throughput no garantiza volumen: medirlo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La meta de 70 % sí se alcanza, pero sobre enrolados</a:t>
            </a:r>
            <a:endParaRPr lang="en-US" sz="2600" dirty="0"/>
          </a:p>
        </p:txBody>
      </p:sp>
      <p:sp>
        <p:nvSpPr>
          <p:cNvPr id="3" name="m1"/>
          <p:cNvSpPr/>
          <p:nvPr/>
        </p:nvSpPr>
        <p:spPr>
          <a:xfrm>
            <a:off x="640080" y="12801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1F0"/>
          </a:solidFill>
          <a:ln w="12700">
            <a:solidFill>
              <a:srgbClr val="D6E9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</a:rPr>
              <a:t>109 %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84832"/>
            <a:ext cx="3108960" cy="61447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enrolamiento necesario para 70 % sobre todo el tráfico: imposible</a:t>
            </a:r>
            <a:endParaRPr lang="en-US" sz="1200" dirty="0"/>
          </a:p>
        </p:txBody>
      </p:sp>
      <p:sp>
        <p:nvSpPr>
          <p:cNvPr id="6" name="m2"/>
          <p:cNvSpPr/>
          <p:nvPr/>
        </p:nvSpPr>
        <p:spPr>
          <a:xfrm>
            <a:off x="4343400" y="12801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2FBF4"/>
          </a:solidFill>
          <a:ln w="12700">
            <a:solidFill>
              <a:srgbClr val="D6E9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01D"/>
                </a:solidFill>
              </a:rPr>
              <a:t>64 → 72 %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84832"/>
            <a:ext cx="3108960" cy="61447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sobre enrolados, con ANPR al 95 % y menos fallas de captura</a:t>
            </a:r>
            <a:endParaRPr lang="en-US" sz="1200" dirty="0"/>
          </a:p>
        </p:txBody>
      </p:sp>
      <p:sp>
        <p:nvSpPr>
          <p:cNvPr id="9" name="m3"/>
          <p:cNvSpPr/>
          <p:nvPr/>
        </p:nvSpPr>
        <p:spPr>
          <a:xfrm>
            <a:off x="8046720" y="12801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7D6"/>
          </a:solidFill>
          <a:ln w="12700">
            <a:solidFill>
              <a:srgbClr val="D6E9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41732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8B00"/>
                </a:solidFill>
              </a:rPr>
              <a:t>1:55 · 6:10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084832"/>
            <a:ext cx="3108960" cy="61447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mediana y p90 de Flow: la cola, no la mediana, es el problema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035040"/>
                <a:gridCol w="14630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Numerador / denominador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12 meses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Automatización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Visitas cerradas sin intervención / visitas de vehículos enrolados en carriles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64 %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80 %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Alcance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Transacciones Flow / transacciones de la 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≈ 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≈ 10 %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Tiempo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p50 y p90 de detección a salida, transacciones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1:55 · 6:10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≤ 2:00 · ≤ 4:00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La Tabla E no declara su base: si incluyera a todos los vehículos, una mediana de 1:55 sería incompatible con 89 % no automatizado.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Flow no se paga por eficiencia: se paga si genera volumen</a:t>
            </a:r>
            <a:endParaRPr lang="en-US" sz="2600" dirty="0"/>
          </a:p>
        </p:txBody>
      </p:sp>
      <p:graphicFrame>
        <p:nvGraphicFramePr>
          <p:cNvPr id="3" name="vpn" descr=""/>
          <p:cNvGraphicFramePr/>
          <p:nvPr/>
        </p:nvGraphicFramePr>
        <p:xfrm>
          <a:off x="548640" y="118872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0" y="1371600"/>
            <a:ext cx="48463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Cada transacción deja USD 1,55 de margen (7,4 gal × USD 0,21).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Pasar efectivo a tarjeta encarece el cobro; el ahorro real viene del prepago cuenta a cuenta (0,3 %).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En C, el CAPEX de una estación equivale a 2,1 años de contribución antes de costos fijos; el programa no se recupera en 5 años (acumulado −USD 3,3 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Con 6 % de volumen neto de red por estación en el año 3, el VPN a 5 años llega a cero.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Variables más sensibles: tráfico por estación, costos fijos y volumen incremental.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Entrar por flotas; ninguna placa autoriza sola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17373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Segmento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Factores de identidad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Flotas corporativas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Placa + tag RFID (+ PIN si hay varios conductores)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Innecesario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Wedge: mes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Frecuentes de la app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Placa + dispositivo presente + confirmación de un toque al inicio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Step-up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Mes 6, si disputas &lt; 0,45 %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Taxis y plataformas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Placa + facial 1:1 o PIN del conductor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Obligatorio o PIN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Año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Motociclistas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QR asistido en el surtidor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No aplica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Fuera del año 1 (ANPR 52 %)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Flotas atacan los dos cuellos a la vez: enrolamiento en bloque y disputas casi nulas, con ciclo de vida de credenciales (alta, revocación, límites).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Con 0,11 % de falsos positivos nocturnos, una placa sola cobraría a la cuenta equivocada 1 de cada 900 veces.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</a:rPr>
              <a:t>El islero pasa a anfitrión Flow: enrola, resuelve excepciones, vende tienda. Cero reducciones durante el programa.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Arquitectura: las garantías viven en el código, no en el prompt</a:t>
            </a:r>
            <a:endParaRPr lang="en-US" sz="2600" dirty="0"/>
          </a:p>
        </p:txBody>
      </p:sp>
      <p:pic>
        <p:nvPicPr>
          <p:cNvPr id="3" name="arq" descr="/home/claude/flow/img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7680960" cy="3191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188720"/>
            <a:ext cx="3291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</a:rPr>
              <a:t>El surtidor solo habilita con autorización firmada y preset = hold, con interlocks fail-closed y parada de emergencia independiente.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</a:rPr>
              <a:t>Una clave idempotente por transacción: reintentos sin doble cobro.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</a:rPr>
              <a:t>Sin enlace: solo prepago reservado o flota con contrato; ninguna tarjeta offline.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</a:rPr>
              <a:t>Ruta crítica en isla ≈ 1:41 (≈ 95 % físico) con 19 s de holgura; la cola sale de excepciones.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72000"/>
            <a:ext cx="7680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Edge: visión, decisión en isla, surtidor y offline. Cloud: identidad, dinero, riesgo, conciliación y modelos.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Visión: del 90 % real a 96 % proyectado, y umbral facial dinámico</a:t>
            </a:r>
            <a:endParaRPr lang="en-US" sz="2600" dirty="0"/>
          </a:p>
        </p:txBody>
      </p:sp>
      <p:graphicFrame>
        <p:nvGraphicFramePr>
          <p:cNvPr id="3" name="anpr" descr=""/>
          <p:cNvGraphicFramePr/>
          <p:nvPr/>
        </p:nvGraphicFramePr>
        <p:xfrm>
          <a:off x="548640" y="118872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Umbral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Rechazo genuino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Costo/intento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0,60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3,6 %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USD 0,039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0,70 actual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7,4 %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USD 0,075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0,80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15,3 %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</a:rPr>
                        <a:t>USD 0,153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0" y="32918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</a:rPr>
              <a:t>0,60 para bajo riesgo; 0,70 para cuenta nueva o noche con monto alto; nunca 0,80 en isla.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</a:rPr>
              <a:t>Liveness desacoplado del match (APCER ≤ 1 %).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</a:rPr>
              <a:t>Mayores de 60 en baja luz: FRR 1,98× → no cumple la brecha máxima de 1,25×; factor alterno mientras tanto.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Las disputas van a cruzar el umbral: plan de 30 días</a:t>
            </a:r>
            <a:endParaRPr lang="en-US" sz="2600" dirty="0"/>
          </a:p>
        </p:txBody>
      </p:sp>
      <p:graphicFrame>
        <p:nvGraphicFramePr>
          <p:cNvPr id="3" name="disp" descr=""/>
          <p:cNvGraphicFramePr/>
          <p:nvPr/>
        </p:nvGraphicFramePr>
        <p:xfrm>
          <a:off x="548640" y="118872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61 % “no reconozco” · 22 % “monto incorrecto”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128016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Semana 1: descriptor claro, push con foto de placa, galones e isla; hold dinámico.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Semana 2: alertas previas a la disputa y reembolso automático &lt; COP 50.000 si cuesta menos que el contracargo.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Semana 3: evidencia convincente para representar (ANPR, ticket, dispositivo, historial).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Semana 4: kill switch en 0,55 %; cuentas nuevas a asistido.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Prepago recargado por pago inmediato: MDR 0,3 % y sin contracargos de tarjeta (conserva reclamos del riel).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LLM: recomienda e informa; nunca habilita, cobra ni verifica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48463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Caso de uso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Agente de disputas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Recomienda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Copiloto del anfitrión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Recomienda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Conciliación de excepciones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Recomienda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Diagnóstico de cámaras y edge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Decide (abre ticket)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Soporte y enrolamiento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Informa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28016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Sin ruta de red ni credenciales hacia surtidor, pagos o bóveda biométrica.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Herramientas tipadas de solo lectura; los efectos son propuestas firmadas que ejecuta un motor de políticas o una persona.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La herramienta que ejecuta revalida las reglas: si el modelo se equivoca, la acción no pasa.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Pasa de “recomienda” a “decide” solo en reembolsos &lt; COP 50.000, tras 1.000 casos con 98 % de acuerdo.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</a:rPr>
              <a:t>Año 3: USD 18.500 en LLM contra ≈ USD 556.000 de soporte manual.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601D"/>
                </a:solidFill>
              </a:rPr>
              <a:t>Prototipo funcional (entregable 8): agente de disputas con 5 casos de prueba y recorrido en isla.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68580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</a:rPr>
              <a:t>Roadmap con compuertas y la decisión que pido hoy</a:t>
            </a:r>
            <a:endParaRPr lang="en-US" sz="2600" dirty="0"/>
          </a:p>
        </p:txBody>
      </p:sp>
      <p:pic>
        <p:nvPicPr>
          <p:cNvPr id="3" name="road" descr="/home/claude/flow/img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589520" cy="3566160"/>
          </a:xfrm>
          <a:prstGeom prst="rect">
            <a:avLst/>
          </a:prstGeom>
        </p:spPr>
      </p:pic>
      <p:sp>
        <p:nvSpPr>
          <p:cNvPr id="4" name="ask"/>
          <p:cNvSpPr/>
          <p:nvPr/>
        </p:nvSpPr>
        <p:spPr>
          <a:xfrm>
            <a:off x="8366760" y="1143000"/>
            <a:ext cx="3337560" cy="5029200"/>
          </a:xfrm>
          <a:prstGeom prst="roundRect">
            <a:avLst>
              <a:gd name="adj" fmla="val 2192"/>
            </a:avLst>
          </a:prstGeom>
          <a:solidFill>
            <a:srgbClr val="CCFFD6"/>
          </a:solidFill>
          <a:ln w="12700">
            <a:solidFill>
              <a:srgbClr val="54A7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01D"/>
                </a:solidFill>
              </a:rPr>
              <a:t>Pido al comité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78308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Aprobar USD 4,2 M para la fase 1, no para 420 estaciones.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Aceptar las 4 compuertas y el kill switch de disputas.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Respaldar el compromiso con el sindicato.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Decidir 250, 420 o detener en el mes 12 con evidencia medida.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37760"/>
            <a:ext cx="75895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Si al mes 6 falla una compuerta, cambia la palanca, no el plazo.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212121"/>
      </a:dk1>
      <a:lt1>
        <a:srgbClr val="FFFFFF"/>
      </a:lt1>
      <a:dk2>
        <a:srgbClr val="15601D"/>
      </a:dk2>
      <a:lt2>
        <a:srgbClr val="F2FBF4"/>
      </a:lt2>
      <a:accent1>
        <a:srgbClr val="15601D"/>
      </a:accent1>
      <a:accent2>
        <a:srgbClr val="54A771"/>
      </a:accent2>
      <a:accent3>
        <a:srgbClr val="6DFD8C"/>
      </a:accent3>
      <a:accent4>
        <a:srgbClr val="B42318"/>
      </a:accent4>
      <a:accent5>
        <a:srgbClr val="B38B00"/>
      </a:accent5>
      <a:accent6>
        <a:srgbClr val="2B4C9A"/>
      </a:accent6>
      <a:hlink>
        <a:srgbClr val="15601D"/>
      </a:hlink>
      <a:folHlink>
        <a:srgbClr val="54A771"/>
      </a:folHlink>
    </a:clrScheme>
    <a:fontScheme name="Flo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Flow · Sustentación</dc:title>
  <dc:subject>PptxGenJS Presentation</dc:subject>
  <dc:creator>Victor Hugo Villafañe Aguilar</dc:creator>
  <cp:lastModifiedBy>Victor Hugo Villafañe Aguilar</cp:lastModifiedBy>
  <cp:revision>1</cp:revision>
  <dcterms:created xsi:type="dcterms:W3CDTF">2026-10-09T23:09:00Z</dcterms:created>
  <dcterms:modified xsi:type="dcterms:W3CDTF">2026-10-09T23:09:00Z</dcterms:modified>
</cp:coreProperties>
</file>